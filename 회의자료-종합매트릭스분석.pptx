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6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2011680"/>
            <a:ext cx="5029200" cy="5029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4114800"/>
            <a:ext cx="4754880" cy="4754880"/>
          </a:xfrm>
          <a:prstGeom prst="ellipse">
            <a:avLst/>
          </a:prstGeom>
          <a:solidFill>
            <a:srgbClr val="1B2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B5A0"/>
                </a:solidFill>
                <a:latin typeface="맑은 고딕"/>
              </a:rPr>
              <a:t>TTA · AI-Ready 표준 생태계 조성을 위한 표준화 전략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종합 매트릭스 분석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4D3E6"/>
                </a:solidFill>
                <a:latin typeface="맑은 고딕"/>
              </a:rPr>
              <a:t>분석 대상 16종 × 7개 구성요소 — 무엇이 비어 있고, 무엇을 해야 하는가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2606040" cy="96012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B5A0"/>
                </a:solidFill>
                <a:latin typeface="맑은 고딕"/>
              </a:rPr>
              <a:t>16종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FC4DC"/>
                </a:solidFill>
                <a:latin typeface="맑은 고딕"/>
              </a:rPr>
              <a:t>분석 대상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343400"/>
            <a:ext cx="2606040" cy="96012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48056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B5A0"/>
                </a:solidFill>
                <a:latin typeface="맑은 고딕"/>
              </a:rPr>
              <a:t>~40%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9834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FC4DC"/>
                </a:solidFill>
                <a:latin typeface="맑은 고딕"/>
              </a:rPr>
              <a:t>평균 성숙도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343400"/>
            <a:ext cx="2606040" cy="96012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48056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B5A0"/>
                </a:solidFill>
                <a:latin typeface="맑은 고딕"/>
              </a:rPr>
              <a:t>64건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834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FC4DC"/>
                </a:solidFill>
                <a:latin typeface="맑은 고딕"/>
              </a:rPr>
              <a:t>A축 결함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4343400"/>
            <a:ext cx="2606040" cy="96012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48056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B5A0"/>
                </a:solidFill>
                <a:latin typeface="맑은 고딕"/>
              </a:rPr>
              <a:t>8–83%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9834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FC4DC"/>
                </a:solidFill>
                <a:latin typeface="맑은 고딕"/>
              </a:rPr>
              <a:t>성숙도 분포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A0BC"/>
                </a:solidFill>
                <a:latin typeface="맑은 고딕"/>
              </a:rPr>
              <a:t>연구진 공유용 · 매트릭스 진단 브리핑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매트릭스가 드러내는 네 가지 사실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16종을 두 축으로 집계하니, 개별 표준이 아니라 ‘구조적 패턴’이 보인다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1848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맑은 고딕"/>
              </a:rPr>
              <a:t>공통 공백은 ‘신규 4종’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품질은 16종 중, 운영(ML 사용)은 적용 5종 중 충족(2)이 0. 시맨틱도 9종이 IRI 전무. 데이터 모델(값 형식)만 평균 1.2.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1"/>
            <a:ext cx="777240" cy="77724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25496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79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맑은 고딕"/>
              </a:rPr>
              <a:t>성숙도를 가르는 단 하나의 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36391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상위 4종은 모두 설계부터 RDF·JSON-LD. 표·산문형 12종은 전부 43% 이하 — 보강이 아니라 ‘형식화’가 관건.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58183"/>
            <a:ext cx="777240" cy="77724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04487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76471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맑은 고딕"/>
              </a:rPr>
              <a:t>결함은 도메인이 아니라 ‘절차’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15383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인용분류·오타·내부일관성이 각 16종 중 14종(88%). 모두 기계 검출 가능 — 절차에 자동 점검이 없다는 신호.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37175"/>
            <a:ext cx="777240" cy="77724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83479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55463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맑은 고딕"/>
              </a:rPr>
              <a:t>정답은 이미 TTA 안에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294375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상위군(어휘·카탈로그·VC)은 모두 기존 TTA 표준. 문제는 메타데이터 사전 전통이 그 모범을 안 따른다는 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① 공통 공백 — 품질·운영·시맨틱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7개 구성요소의 16종 평균 (0~2). 빨강=공백, 초록=상대적 강점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데이터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709928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709928"/>
            <a:ext cx="4678984" cy="292608"/>
          </a:xfrm>
          <a:prstGeom prst="rect">
            <a:avLst/>
          </a:prstGeom>
          <a:solidFill>
            <a:srgbClr val="2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5064" y="16916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9E78"/>
                </a:solidFill>
                <a:latin typeface="맑은 고딕"/>
              </a:rPr>
              <a:t>1.19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신태틱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167128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167128"/>
            <a:ext cx="3460089" cy="292608"/>
          </a:xfrm>
          <a:prstGeom prst="rect">
            <a:avLst/>
          </a:prstGeom>
          <a:solidFill>
            <a:srgbClr val="D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6169" y="21488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9A3C"/>
                </a:solidFill>
                <a:latin typeface="맑은 고딕"/>
              </a:rPr>
              <a:t>0.88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출처/계보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624328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624328"/>
            <a:ext cx="3184855" cy="292608"/>
          </a:xfrm>
          <a:prstGeom prst="rect">
            <a:avLst/>
          </a:prstGeom>
          <a:solidFill>
            <a:srgbClr val="D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0935" y="26060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9A3C"/>
                </a:solidFill>
                <a:latin typeface="맑은 고딕"/>
              </a:rPr>
              <a:t>0.81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접근/사용 제약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081528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3081528"/>
            <a:ext cx="2948939" cy="292608"/>
          </a:xfrm>
          <a:prstGeom prst="rect">
            <a:avLst/>
          </a:prstGeom>
          <a:solidFill>
            <a:srgbClr val="D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5020" y="30632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9A3C"/>
                </a:solidFill>
                <a:latin typeface="맑은 고딕"/>
              </a:rPr>
              <a:t>0.75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시맨틱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538728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3538728"/>
            <a:ext cx="2713024" cy="29260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39104" y="35204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8674F"/>
                </a:solidFill>
                <a:latin typeface="맑은 고딕"/>
              </a:rPr>
              <a:t>0.69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품질 프로파일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995927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3995927"/>
            <a:ext cx="2201875" cy="29260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7955" y="3977639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8674F"/>
                </a:solidFill>
                <a:latin typeface="맑은 고딕"/>
              </a:rPr>
              <a:t>0.56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3484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운영 시맨틱 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4453127"/>
            <a:ext cx="7863840" cy="29260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4453127"/>
            <a:ext cx="1572768" cy="29260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43484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8674F"/>
                </a:solidFill>
                <a:latin typeface="맑은 고딕"/>
              </a:rPr>
              <a:t>0.40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4920"/>
            <a:ext cx="11091672" cy="1280160"/>
          </a:xfrm>
          <a:prstGeom prst="rect">
            <a:avLst/>
          </a:prstGeom>
          <a:solidFill>
            <a:srgbClr val="D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30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506E"/>
                </a:solidFill>
                <a:latin typeface="맑은 고딕"/>
              </a:rPr>
              <a:t>→ 품질은 16종 중, 운영(† ML 대상 5종)은 충족(2)이 하나도 없다 — 구조적 공백.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수준 요건이 의무화해야 할 ‘바닥선’이 데이터로 정해진다: 어휘 IRI 바인딩(시맨틱)·ML 사용 선언(운영·Croissant)·품질(ISO 5259-2/DQV).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② 성숙도를 가르는 변수 — ‘설계부터 형식화했는가’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상위 4종은 RDF/JSON-LD 기반, 하위 12종은 표·산문형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9E78"/>
                </a:solidFill>
                <a:latin typeface="맑은 고딕"/>
              </a:rPr>
              <a:t>상위 — 설계부터 형식화 (모범)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94960" cy="457200"/>
          </a:xfrm>
          <a:prstGeom prst="rect">
            <a:avLst/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Y.3603 빅데이터 카탈로그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2E9E78"/>
                </a:solidFill>
                <a:latin typeface="맑은 고딕"/>
              </a:rPr>
              <a:t>83%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5394960" cy="457200"/>
          </a:xfrm>
          <a:prstGeom prst="rect">
            <a:avLst/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1594 AI 모델 메타데이터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2E9E78"/>
                </a:solidFill>
                <a:latin typeface="맑은 고딕"/>
              </a:rPr>
              <a:t>79%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394960" cy="457200"/>
          </a:xfrm>
          <a:prstGeom prst="rect">
            <a:avLst/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0896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1291 데이터맵 어휘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2E9E78"/>
                </a:solidFill>
                <a:latin typeface="맑은 고딕"/>
              </a:rPr>
              <a:t>67%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394960" cy="457200"/>
          </a:xfrm>
          <a:prstGeom prst="rect">
            <a:avLst/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576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1561 VC 신원 프로파일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5760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2E9E78"/>
                </a:solidFill>
                <a:latin typeface="맑은 고딕"/>
              </a:rPr>
              <a:t>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674F"/>
                </a:solidFill>
                <a:latin typeface="맑은 고딕"/>
              </a:rPr>
              <a:t>하위 — 표·산문형 (전환 대상)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5330952" cy="457200"/>
          </a:xfrm>
          <a:prstGeom prst="rect">
            <a:avLst/>
          </a:prstGeom>
          <a:solidFill>
            <a:srgbClr val="FB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011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1571 철강 제조데이터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0116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8674F"/>
                </a:solidFill>
                <a:latin typeface="맑은 고딕"/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5330952" cy="457200"/>
          </a:xfrm>
          <a:prstGeom prst="rect">
            <a:avLst/>
          </a:prstGeom>
          <a:solidFill>
            <a:srgbClr val="FB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5603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0310 자율주행 품질검증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56032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8674F"/>
                </a:solidFill>
                <a:latin typeface="맑은 고딕"/>
              </a:rPr>
              <a:t>21%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108960"/>
            <a:ext cx="5330952" cy="457200"/>
          </a:xfrm>
          <a:prstGeom prst="rect">
            <a:avLst/>
          </a:prstGeom>
          <a:solidFill>
            <a:srgbClr val="FB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10896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1530 수산양식 센서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10896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8674F"/>
                </a:solidFill>
                <a:latin typeface="맑은 고딕"/>
              </a:rPr>
              <a:t>17%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57600"/>
            <a:ext cx="5330952" cy="457200"/>
          </a:xfrm>
          <a:prstGeom prst="rect">
            <a:avLst/>
          </a:prstGeom>
          <a:solidFill>
            <a:srgbClr val="FB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6576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1344-P2 비정형 품질지표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65760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8674F"/>
                </a:solidFill>
                <a:latin typeface="맑은 고딕"/>
              </a:rPr>
              <a:t>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1032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506E"/>
                </a:solidFill>
                <a:latin typeface="맑은 고딕"/>
              </a:rPr>
              <a:t>→ 결정 변수는 도메인이 아니라 ‘형식화 여부’.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대부분 표준에 필요한 일은 점진적 보강이 아니라 표현 방식의 전환. 특히 TTA 메타데이터 핵심인 PG606 표준들이 오히려 하위에 몰린다(1594만 예외) — 수준 요건의 1차 적용 대상이다.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③ 결함은 도메인이 아니라 ‘절차’에서 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A축 결함 64건 — 세 유형이 거의 모든 표준에 반복(88%)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554480" cy="65836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14/16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1226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099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맑은 고딕"/>
              </a:rPr>
              <a:t>인용/준용 분류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756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외부 표준에 규범 의존하며 ‘인용표준 없음’ 표기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78024"/>
            <a:ext cx="1554480" cy="65836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14/16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9864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963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맑은 고딕"/>
              </a:rPr>
              <a:t>오타·표기 불일치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620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오탈자·영문 요소명 중복·표제 오기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64408"/>
            <a:ext cx="1554480" cy="658368"/>
          </a:xfrm>
          <a:prstGeom prst="rect">
            <a:avLst/>
          </a:prstGeom>
          <a:solidFill>
            <a:srgbClr val="D8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9272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14/16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8503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8269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맑은 고딕"/>
              </a:rPr>
              <a:t>내부 일관성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64845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약어 미정의·절번호 중복·표제↔내용 불일치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50791"/>
            <a:ext cx="1554480" cy="658368"/>
          </a:xfrm>
          <a:prstGeom prst="rect">
            <a:avLst/>
          </a:prstGeom>
          <a:solidFill>
            <a:srgbClr val="D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05655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6/16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7141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한정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06907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맑은 고딕"/>
              </a:rPr>
              <a:t>코드/enum·단위·타입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348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해당 표준 한정 — 도메인 결함 (6~7건)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1091672" cy="1280160"/>
          </a:xfrm>
          <a:prstGeom prst="rect">
            <a:avLst/>
          </a:prstGeom>
          <a:solidFill>
            <a:srgbClr val="D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30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506E"/>
                </a:solidFill>
                <a:latin typeface="맑은 고딕"/>
              </a:rPr>
              <a:t>→ 개별 표준 실수가 아니라 제정·심의 절차에 자동 점검이 없다는 신호.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B"/>
                </a:solidFill>
                <a:latin typeface="맑은 고딕"/>
              </a:rPr>
              <a:t>빈도 높고(88%) 기계 검출 쉬움 → 절차 개선과 2027 자동 검토 도구의 1차 표적으로 최적.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무엇을 해야 하는가 (1) — AI-Ready 수준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공백을 단계형 의무로 못 박는다. 데이터 모델이 이미 강하므로 ‘기존 표를 형식화’가 최소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3716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B5A0"/>
                </a:solidFill>
                <a:latin typeface="맑은 고딕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32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필수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783080"/>
            <a:ext cx="9582912" cy="1143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929384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맑은 고딕"/>
              </a:rPr>
              <a:t>요소 의미·상하/포함 관계를 IRI 바인딩 + JSON-LD @context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8658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7293"/>
                </a:solidFill>
                <a:latin typeface="맑은 고딕"/>
              </a:rPr>
              <a:t>대상 구성요소: 시맨틱 · 신태틱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35000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D8674F"/>
                </a:solidFill>
                <a:latin typeface="맑은 고딕"/>
              </a:rPr>
              <a:t>현재 12종 미달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81528"/>
            <a:ext cx="13716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B5A0"/>
                </a:solidFill>
                <a:latin typeface="맑은 고딕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권장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081528"/>
            <a:ext cx="9582912" cy="1143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22783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맑은 고딕"/>
              </a:rPr>
              <a:t>값 유형·제약을 XSD/SHACL로 형식화 + 출처 PROV-O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685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7293"/>
                </a:solidFill>
                <a:latin typeface="맑은 고딕"/>
              </a:rPr>
              <a:t>대상 구성요소: 데이터 모델 · 출처/계보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64845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D29A3C"/>
                </a:solidFill>
                <a:latin typeface="맑은 고딕"/>
              </a:rPr>
              <a:t>부분 충족 다수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79976"/>
            <a:ext cx="13716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62856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B5A0"/>
                </a:solidFill>
                <a:latin typeface="맑은 고딕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9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고도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379976"/>
            <a:ext cx="9582912" cy="1143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4526280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맑은 고딕"/>
              </a:rPr>
              <a:t>품질 ISO5259-2/DQV · ML Croissant · 이용제약 DUO/ODRL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83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7293"/>
                </a:solidFill>
                <a:latin typeface="맑은 고딕"/>
              </a:rPr>
              <a:t>대상 구성요소: 품질 · 운영 · 접근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9469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D8674F"/>
                </a:solidFill>
                <a:latin typeface="맑은 고딕"/>
              </a:rPr>
              <a:t>현재 충족 전무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무엇을 해야 하는가 (2) — 절차 개선 · 샘플 ·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88% 반복 결함을 자동 게이트로, 이미 있는 모범을 템플릿으로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506E"/>
                </a:solidFill>
                <a:latin typeface="맑은 고딕"/>
              </a:rPr>
              <a:t>제정·개정 절차 — 자동 게이트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맑은 고딕"/>
              </a:rPr>
              <a:t>● 인용표준 검증기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3288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B"/>
                </a:solidFill>
                <a:latin typeface="맑은 고딕"/>
              </a:rPr>
              <a:t>외부 네임스페이스·표준 규범 사용 시 ‘해당없음’ 차단·후보 자동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맑은 고딕"/>
              </a:rPr>
              <a:t>● 일관성 검사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4728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B"/>
                </a:solidFill>
                <a:latin typeface="맑은 고딕"/>
              </a:rPr>
              <a:t>미정의 약어·절번호 중복·표제 오기·영문명 중복 자동 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293B"/>
                </a:solidFill>
                <a:latin typeface="맑은 고딕"/>
              </a:rPr>
              <a:t>● 자기점검표 의무화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6168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B"/>
                </a:solidFill>
                <a:latin typeface="맑은 고딕"/>
              </a:rPr>
              <a:t>제출 시 7개 구성요소 등급 자기선언란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5468112" cy="4206240"/>
          </a:xfrm>
          <a:prstGeom prst="rect">
            <a:avLst/>
          </a:prstGeom>
          <a:solidFill>
            <a:srgbClr val="D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55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506E"/>
                </a:solidFill>
                <a:latin typeface="맑은 고딕"/>
              </a:rPr>
              <a:t>샘플 · 모범사례 · 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● 샘플 ★5종 재작성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514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B"/>
                </a:solidFill>
                <a:latin typeface="맑은 고딕"/>
              </a:rPr>
              <a:t>전부 14~43% ‘전환 필요’ 코호트 — 대표성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998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● 모범 템플릿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37413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B"/>
                </a:solidFill>
                <a:latin typeface="맑은 고딕"/>
              </a:rPr>
              <a:t>1291·Y.3603·1561(기존 TTA 표준)을 ‘이렇게 하면 된다’로 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593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● 2027 DQV/SHACL 트랙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2336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B"/>
                </a:solidFill>
                <a:latin typeface="맑은 고딕"/>
              </a:rPr>
              <a:t>품질검증 3종(0310·1419·1344-P2) 우선 — 최대 공백 해소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188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맑은 고딕"/>
              </a:rPr>
              <a:t>● 범위 한정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09320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B"/>
                </a:solidFill>
                <a:latin typeface="맑은 고딕"/>
              </a:rPr>
              <a:t>데이터·메타데이터 표준에 적용. 신원·서비스 계열은 점수 왜곡 명시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4440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맑은 고딕"/>
              </a:rPr>
              <a:t>우선 실행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7293"/>
                </a:solidFill>
                <a:latin typeface="맑은 고딕"/>
              </a:rPr>
              <a:t>매트릭스에서 곧바로 도출되는 단기 실행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371600" cy="841248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즉시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645920"/>
            <a:ext cx="9582912" cy="84124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7647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맑은 고딕"/>
              </a:rPr>
              <a:t>인용표준·일관성 자동 검증 규칙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305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88% 적중 결함부터 절차에 게이트로 삽입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15184"/>
            <a:ext cx="1371600" cy="841248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71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단기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615184"/>
            <a:ext cx="9582912" cy="84124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73405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맑은 고딕"/>
              </a:rPr>
              <a:t>‘저비용 전환’ 시연 (1510·0326-P6)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99816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구조는 있고 어휘·직렬화만 빈 표준에 @context·IRI — 가장 빠른 성과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84448"/>
            <a:ext cx="1371600" cy="841248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단기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584448"/>
            <a:ext cx="9582912" cy="84124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703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맑은 고딕"/>
              </a:rPr>
              <a:t>출처/계보 PROV-O 전환 (1595)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690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구축공정 내용이 가장 풍부 — PROV 시연 최적 대상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53712"/>
            <a:ext cx="1371600" cy="841248"/>
          </a:xfrm>
          <a:prstGeom prst="rect">
            <a:avLst/>
          </a:prstGeom>
          <a:solidFill>
            <a:srgbClr val="D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097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2027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553712"/>
            <a:ext cx="9582912" cy="84124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67258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맑은 고딕"/>
              </a:rPr>
              <a:t>품질검증 3종 DQV/SHACL 자동생성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3834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최대 공백(품질 충족 0) 해소 — 검증 도구 트랙 직결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22976"/>
            <a:ext cx="1371600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790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산출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5522976"/>
            <a:ext cx="9582912" cy="84124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64184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맑은 고딕"/>
              </a:rPr>
              <a:t>수준 요건 L1~L3 초안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00760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B"/>
                </a:solidFill>
                <a:latin typeface="맑은 고딕"/>
              </a:rPr>
              <a:t>모범 템플릿(1291·Y.3603·1561) + PG606 하위 1차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TTA · AI-Ready 표준화 전략 — 종합 매트릭스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A0B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6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194560"/>
            <a:ext cx="5486400" cy="54864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B5A0"/>
                </a:solidFill>
                <a:latin typeface="맑은 고딕"/>
              </a:rPr>
              <a:t>핵심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매트릭스는 두 가지를 분명히 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64592" cy="914400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공백은 특정 층에 집중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95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C4D3E6"/>
                </a:solidFill>
                <a:latin typeface="맑은 고딕"/>
              </a:rPr>
              <a:t>AI-Ready 공백은 산발적이지 않고 품질·운영·시맨틱에 구조적으로 집중 — 수준 요건이 무엇을 의무화할지 정해진다.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164592" cy="914400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결함은 절차에서 비롯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325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C4D3E6"/>
                </a:solidFill>
                <a:latin typeface="맑은 고딕"/>
              </a:rPr>
              <a:t>반복 결함은 도메인이 아니라 절차에서 오며 대부분 기계 검출 가능 — 절차 개선·자동 검토의 표적이 정해진다.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54880"/>
            <a:ext cx="164592" cy="914400"/>
          </a:xfrm>
          <a:prstGeom prst="rect">
            <a:avLst/>
          </a:prstGeom>
          <a:solidFill>
            <a:srgbClr val="0F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해법의 모범은 내부에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755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C4D3E6"/>
                </a:solidFill>
                <a:latin typeface="맑은 고딕"/>
              </a:rPr>
              <a:t>IRI·RDF·JSON-LD를 제대로 한 표준이 이미 TTA에 있다 — 흩어진 정답을 수준 요건으로 일반화하면 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B5A0"/>
                </a:solidFill>
                <a:latin typeface="맑은 고딕"/>
              </a:rPr>
              <a:t>다음 단계 — 수준 요건 L1~L3 초안 작성 · 자동 검증 규칙 정의 · ★5종 재작성 착수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
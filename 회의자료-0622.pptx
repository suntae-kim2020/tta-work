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목적은 올해 과제의 분석 설계를 연구진이 같은 그림으로 이해하도록 맞추는 것입니다. 결론은 인상이 아니라 같은 잣대로 분석한 데이터 위에 서야 하고, 그 입력은 두 갈래 — 연구진이 선정한 표준 분석과 국내외 동향조사(갭분석) — 입니다. 올해 산출물은 진단·수준요건에서 그치지 않고, 제정·개정 절차의 AS-IS→TO-BE 개선안과, 대표 표준 5종을 실제 AI-Ready로 재작성한 샘플 표준까지 포함합니다. 오늘은 이 전체 구조를 도식과 표로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올해 산출물은 다섯입니다. (1) 현황·문제점 진단 — 선정 표준 분석과 동향조사. (2) AI-Ready 수준 요건. (3) 제정·개정 절차의 AS-IS→TO-BE 개선안, 개선할 절차와 사유를 문서화합니다. (4) 대표 표준 5종을 실제 AI-Ready Metadata 표준으로 재작성한 샘플 — 요건과 TO-BE 절차가 적용 가능함을 실증하는 결과물입니다. (5) 2027 개발 로드맵. (3)과 (4)가 이번에 새로 강조되는 부분입니다. 진단에 그치지 않고 ‘이렇게 절차를 바꾸고, 이렇게 표준을 쓰면 된다’는 모범을 직접 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전체 뼈대입니다. 왼쪽 입력 둘 — 연구진이 선정한 표준 분석과 동향조사 — 이 가운데 종합·교차분석으로 모이고, 오른쪽 네 산출물로 갈라집니다. 반복 결함은 문제점·프로세스 개선(AS-IS→TO-BE)으로, 공통 공백은 수준 요건으로, 그 요건과 절차의 적용 가능성은 샘플 표준 5종으로 실증되며, 자동화가 필요한 지점은 2027 도구·로드맵으로 갑니다. 선정 표준 수는 아직 확정 전이라 ○○종으로 두었고, 표본 확정 단계에서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①은 우리가 직접 만드는 카드입니다. 표준 하나당 한 장, 담당자가 채웁니다. A축은 표준 자체의 결함(타입·단위·인용표준 등)을 유형별로 보고 각 결함에 자동검사 필요 여부를 표시합니다. B축은 AI-Ready 7개 구성요소를 0·1·2로 매겨 성숙도 점수를 냅니다. 한 장은 그 표준 이야기지만, 모두 모이면 공통 패턴이 보입니다 — 그게 카드의 목적입니다.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B축 잣대인 7개 구성요소입니다. 앞 셋은 기존 표준 내용을 기계가 읽게 다시 표현하는 것, 뒤 넷은 대체로 빠져 있던 맥락을 새로 추가하는 것입니다. 카드는 표준마다 이 7개가 각각 어느 수준인지 0·1·2로 매깁니다.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 ②, 동향조사입니다. 글로벌 AI-Ready 표준 현황(Croissant·DCAT·SOSA·PROV-O·DQV·DataCite 등)과 검증 프로그램 라이선스 현황을 봅니다. 라이선스는 단순 행정이 아니라 2027 검증 자동생성의 법적 선결 조건입니다. 갭분석의 산물은 ‘국제 기준선’과 ‘도구가 다뤄야 할 어휘·검증 목록’ 두 가지입니다.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가장 강조할 장입니다. 두 입력이 두 산출물에 교차로 연결됩니다. 표준 분석은 ‘현재 수준’을, 갭분석은 ‘국제 기준선’과 ‘어휘·검증 목록’을 줍니다. 갭분석은 요건 쪽에서는 눈높이를, 도구 쪽에서는 기능을 규정합니다. 한 번의 갭분석 결과가 양쪽에 재사용되므로, 조사 항목을 처음부터 두 용도로 설계해야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무엇을 분석하면 무엇이 나오는가의 추적표입니다. 카드(입력①)에서 반복 결함→프로세스 개선, 자동검사 항목→2027 도구, 공통 공백→수준 요건이 나오고, 수준 요건과 TO-BE 절차를 적용해 샘플 표준 5종으로 실증합니다. 동향조사(입력②)는 국제 기준선→요건 눈높이, 어휘·검증 목록·라이선스→도구 요구사항으로 이어집니다. 오른쪽은 담당 카테고리이며 화살표는 협업 흐름입니다.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1530을 카드로 분석한 실제 결과입니다. 7개 중 둘만 부분 충족, 성숙도 14%. A축 결함 6건. 가장 시급한 개선은 시맨틱(SOSA)과 운영 시맨틱(단위 QUDT/UCUM)입니다. 이런 표준이 다음 장의 샘플 재작성 후보가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산출물입니다. 대표 표준 5종을 실제 AI-Ready Metadata 표준으로 재작성해 각각 제시합니다. 각 샘플은 네 묶음 — 요소→어휘 IRI 매핑표, JSON-LD @context, SHACL 제약, 재작성 전후 성숙도 비교 — 로 구성됩니다. 이건 진단을 넘어 ‘이렇게 쓰면 된다’를 직접 보이는 실증입니다. 동시에 2027년 자동화 도구가 만들어낼 출력의 예시이기도 합니다. 5종은 분석 표준 중 도메인과 성숙도를 고려해 고릅니다.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현행(AS-IS) 절차는 제안→PG 검토→TC 심의→총회 제정→개정으로, 정합성 검증이 사람 눈에만 의존합니다. 그래서 1530 사례처럼 타입 오류나 인용표준 누락이 제정까지 통과합니다. 개선(TO-BE)은 네 가지를 바꿉니다. (1) 제안 단계에서 공동 어휘 바인딩을 강화하고, (2) 사람 심의 전에 ‘자동 정합성 검토’ 단계를 신설해 타입·인용·SHACL을 기계가 1차로 거르며, (3) 심의에 AI-Ready 체크포인트(7개 구성요소 최소 등급)를 추가하고, (4) 개정 트리거에 AI-Ready 적합성 재평가를 포함합니다. 민트색으로 표시된 박스가 신설·강화·추가·확장된 지점입니다. 다음 장에서 각 개선의 사유를 표로 정리합니다.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개선할 절차 다섯 가지와 사유를 표로 정리했습니다. 핵심은 자동 정합성 검토 신설과 AI-Ready 체크포인트입니다 — 사람이 못 잡는 결함을 기계가 차단하고, AI 활용 가능성을 제정 시점에 보장하기 위해서입니다. 어휘 바인딩과 기계검증 산출물 의무화는 상호운용성과 검증 자동화를 위한 것이고, 개정 트리거 확장은 기존 표준이 AI-Ready 전환에서 누락되지 않게 하기 위한 것입니다. 이 표가 그대로 절차 개선 문서의 골자가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진행 순서입니다. 1단계 표본 확정 — 연구진이 PG606과 타 PG에서 표준을 선정하고 양식을 공유합니다(수는 ○○종, 확정 시 채움). 2단계 카드와 갭분석 병행. 3단계 종합 매트릭스. 4단계 설계·실증·계획 — 수준 요건, 절차 TO-BE, 샘플 표준 5종 재작성, 2027 로드맵을 함께 산출합니다. 올해는 진단·개선·제안·실증까지이고 실제 도구 개발은 2027입니다.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정리입니다. 카드는 증거 기반, 두 입력이 종합되어 산출물로 갈라지고, 갭분석은 요건과 도구 양쪽에 들어갑니다. 올해는 제정·개정 절차를 AS-IS→TO-BE로 개선하고 사유를 문서화하며, 대표 표준 5종을 AI-Ready로 재작성해 실증합니다. 이 결과물이 2027 개발의 설계도가 됩니다. 다음 단계는 선정 표준을 확정하고 담당을 나누는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5029200" cy="5029200"/>
          </a:xfrm>
          <a:prstGeom prst="ellipse">
            <a:avLst/>
          </a:prstGeom>
          <a:solidFill>
            <a:srgbClr val="1E3354"/>
          </a:solidFill>
          <a:ln/>
        </p:spPr>
      </p:sp>
      <p:sp>
        <p:nvSpPr>
          <p:cNvPr id="3" name="Shape 1"/>
          <p:cNvSpPr/>
          <p:nvPr/>
        </p:nvSpPr>
        <p:spPr>
          <a:xfrm>
            <a:off x="9445752" y="4114800"/>
            <a:ext cx="4754880" cy="4754880"/>
          </a:xfrm>
          <a:prstGeom prst="ellipse">
            <a:avLst/>
          </a:prstGeom>
          <a:solidFill>
            <a:srgbClr val="1B2D49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TTA · AI-Ready 표준 생태계 조성을 위한 표준화 전략 수립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과제 분석 방법론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4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분석·동향조사부터 절차 개선(AS-IS→TO-BE)과 AI-Ready 샘플 표준까지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연구진 공유용 · 분석 설계 브리핑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과제의 산출물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현황·진단 → 수준 요건·절차 개선 → 실증(샘플 표준) → 2027 로드맵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723644"/>
            <a:ext cx="621792" cy="621792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038" y="1872874"/>
            <a:ext cx="323332" cy="3233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1691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현황·문제점 진단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1691640"/>
            <a:ext cx="5422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표준 분석 + 국내외 동향조사로 결함·격차를 도출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146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49808" y="2638044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38" y="2787274"/>
            <a:ext cx="323332" cy="3233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6060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수준 요건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989320" y="2606040"/>
            <a:ext cx="5422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‘AI-Ready 표준이 되려면 최소 무엇을 갖춰야 하는가’를 등급 기준으로 정의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4290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49808" y="3552444"/>
            <a:ext cx="621792" cy="621792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038" y="3701674"/>
            <a:ext cx="323332" cy="3233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5204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제정·개정 절차 AS-IS→TO-BE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5989320" y="3520440"/>
            <a:ext cx="5422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개선해야 할 절차와 그 사유를 문서화한 절차 개선안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43434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49808" y="4466844"/>
            <a:ext cx="621792" cy="621792"/>
          </a:xfrm>
          <a:prstGeom prst="ellipse">
            <a:avLst/>
          </a:prstGeom>
          <a:solidFill>
            <a:srgbClr val="0FB5A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038" y="4616074"/>
            <a:ext cx="323332" cy="3233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4348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샘플 표준 5종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5989320" y="4434840"/>
            <a:ext cx="5422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표준 5종을 AI-Ready Metadata 표준으로 재작성해 각각 제시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9808" y="5381244"/>
            <a:ext cx="621792" cy="621792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038" y="5530474"/>
            <a:ext cx="323332" cy="3233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53492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개발 로드맵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5989320" y="5349240"/>
            <a:ext cx="5422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SW·자동 검토·공동 어휘 제안·검증 자동생성의 개발 항목·일정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분석 구조 — 두 갈래 입력에서 산출물로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969264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73736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DCE9F2"/>
          </a:solidFill>
          <a:ln w="15875">
            <a:solidFill>
              <a:srgbClr val="1750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94944" y="1847088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연구진 선정 표준 분석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94944" y="2240280"/>
            <a:ext cx="2770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PG606 ○○종 + 타 PG ○○종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품질·정합성 + AI-Ready 성숙도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3063240" cy="1371600"/>
          </a:xfrm>
          <a:prstGeom prst="roundRect">
            <a:avLst>
              <a:gd name="adj" fmla="val 5333"/>
            </a:avLst>
          </a:prstGeom>
          <a:solidFill>
            <a:srgbClr val="D6F0EA"/>
          </a:solidFill>
          <a:ln w="15875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94944" y="3767328"/>
            <a:ext cx="27706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국내외 동향조사 (갭분석)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94944" y="4160520"/>
            <a:ext cx="277063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표준 현황 + 검증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라이선스 현황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937760" y="2377440"/>
            <a:ext cx="2240280" cy="1920240"/>
          </a:xfrm>
          <a:prstGeom prst="roundRect">
            <a:avLst>
              <a:gd name="adj" fmla="val 3810"/>
            </a:avLst>
          </a:prstGeom>
          <a:solidFill>
            <a:srgbClr val="16263F"/>
          </a:solidFill>
          <a:ln w="15875">
            <a:solidFill>
              <a:srgbClr val="16263F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84064" y="2487168"/>
            <a:ext cx="19476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종합·교차분석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84064" y="2880360"/>
            <a:ext cx="194767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매트릭스에서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9D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패턴·격차 도출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83880" y="141732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30184" y="1417320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문제점·프로세스 개선 (AS-IS→TO-BE)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3880" y="242316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30184" y="2423160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수준 요건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183880" y="342900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30184" y="3429000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샘플 표준 5종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83880" y="4434840"/>
            <a:ext cx="3456432" cy="841248"/>
          </a:xfrm>
          <a:prstGeom prst="roundRect">
            <a:avLst>
              <a:gd name="adj" fmla="val 869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330184" y="4434840"/>
            <a:ext cx="316382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자동화 도구·로드맵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703320" y="2423160"/>
            <a:ext cx="1188720" cy="502920"/>
          </a:xfrm>
          <a:prstGeom prst="line">
            <a:avLst/>
          </a:prstGeom>
          <a:noFill/>
          <a:ln w="31750">
            <a:solidFill>
              <a:srgbClr val="1750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3703320" y="3858768"/>
            <a:ext cx="1188720" cy="502920"/>
          </a:xfrm>
          <a:prstGeom prst="line">
            <a:avLst/>
          </a:prstGeom>
          <a:noFill/>
          <a:ln w="31750">
            <a:solidFill>
              <a:srgbClr val="0FB5A0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7223760" y="1874520"/>
            <a:ext cx="914400" cy="141732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7223760" y="2880360"/>
            <a:ext cx="914400" cy="45720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223760" y="3383280"/>
            <a:ext cx="914400" cy="50292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223760" y="3456432"/>
            <a:ext cx="914400" cy="146304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동향조사(갭분석)는 ‘수준 요건’과 ‘자동화 도구 요구사항’ 양쪽에 동시에 반영되고, 수준 요건·절차는 ‘샘플 표준 5종’으로 실증됩니다.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① — 표준 분석 카드의 두 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1개 = 카드 1장 · 담당자가 작성 → 종합 매트릭스로 집계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777240" cy="777240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7867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27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A축 · 품질·정합성 결함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자체의 결함을 유형별로 점검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정의 오류 · 단위 모호성 · 인용표준 분류 오류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코드/enum 오류 · 오타 · 내부 일관성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결함에 ‘자동검사 필요 여부’를 표시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777240" cy="777240"/>
          </a:xfrm>
          <a:prstGeom prst="ellipse">
            <a:avLst/>
          </a:prstGeom>
          <a:solidFill>
            <a:srgbClr val="0FB5A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178673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276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B축 · AI-Ready 7개 구성요소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331720"/>
            <a:ext cx="5120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층 각각을 0/1/2 등급으로 평가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 미충족 · 1 부분 · 2 충족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근거와 ‘충족 위한 매핑 대상’을 기록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합계 ÷ 14 = 성숙도 점수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457200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68680" y="4754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5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카드가 모두 모이면 → 종합 매트릭스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68680" y="5212080"/>
            <a:ext cx="10451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표준의 특성이 아니라 ‘구조적·제도적 패턴’이 드러난다 — A축의 반복 결함, B축 평균의 공통 공백.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7개 구성요소 프레임워크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표준에서 ‘다시 표현’하는 3종 + ‘새로 추가’하는 4종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743200"/>
                <a:gridCol w="743407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의미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5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시맨틱 (Semantic)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각 항목이 ‘무엇을 뜻하는지’를 전역 어휘의 고유 주소(IRI)로 고정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5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모델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사이 관계·구조를 기계가 따라갈 그래프로 표현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75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신태틱 (Syntactic)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그 의미·구조를 적는 표준 직렬화 형식(JSON-LD, RDF 등)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9F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B5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운영 시맨틱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단위·코드·집계 방식 등 ‘값을 올바로 해석하는 규칙’ 명시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B5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출처/계보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누가·언제·어떤 과정으로 생성·가공됐는지 이력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B5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 프로파일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정확도·결측·이상치 등 품질을 형식 어휘로 기술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B5A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접근/사용 제약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라이선스·접근 권한·이용 조건을 데이터에 결합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3종은 ‘데이터 자체’, 뒤 4종은 ‘데이터를 둘러싼 맥락’ — AI가 안전·정확하게 쓰려면 둘 다 필요.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② — 국내외 동향조사 (갭분석)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‘세계 기준은 어디까지 와 있는가’와 ‘우리 표준은 어디에 있는가’의 격차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777240" cy="777240"/>
          </a:xfrm>
          <a:prstGeom prst="ellipse">
            <a:avLst/>
          </a:prstGeom>
          <a:solidFill>
            <a:srgbClr val="1C7293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18324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7335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(메타)데이터 표준 현황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800" y="237744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패키징: MLCommons Croissant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카탈로그·배포: W3C DCAT v3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의미·관측: Schema.org, SOSA/SSN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출처·품질: PROV-O, DQV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식별·저장소: DataCite(DOI), re3data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355080" y="1645920"/>
            <a:ext cx="777240" cy="777240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1832458"/>
            <a:ext cx="404165" cy="40416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673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프로그램 라이선스 현황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492240" y="2377440"/>
            <a:ext cx="52120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SHACL 검증 엔진(pySHACL 등)의 라이선스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어휘·온톨로지 도구의 재배포 가능성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오픈소스 라이선스 상호 호환성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2027 ‘검증 자동생성’의 법적 선결 조건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50292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68680" y="5138928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갭분석의 산물 = ‘국제 기준선(baseline)’과 ‘도구가 다뤄야 할 어휘·검증의 목록’. 이 둘이 다음 장에서 갈라집니다.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동향조사(갭분석)는 두 산출물로 동시에 흐른다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갭분석이 ‘수준 요건’과 ‘도구 요구사항’ 모두에 들어가는가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DCE9F2"/>
          </a:solidFill>
          <a:ln w="15875">
            <a:solidFill>
              <a:srgbClr val="1750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4944" y="212140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 표준 분석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" y="2514600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우리 표준의 수준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3200400" cy="1234440"/>
          </a:xfrm>
          <a:prstGeom prst="roundRect">
            <a:avLst>
              <a:gd name="adj" fmla="val 5926"/>
            </a:avLst>
          </a:prstGeom>
          <a:solidFill>
            <a:srgbClr val="D6F0EA"/>
          </a:solidFill>
          <a:ln w="15875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4944" y="3995928"/>
            <a:ext cx="2907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동향조사 / 갭분석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94944" y="4389120"/>
            <a:ext cx="290779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기준선 + 어휘·검증 목록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75320" y="201168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421624" y="2121408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수준 요건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21624" y="2514600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‘어느 수준을 요구할지’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75320" y="3886200"/>
            <a:ext cx="3337560" cy="1234440"/>
          </a:xfrm>
          <a:prstGeom prst="roundRect">
            <a:avLst>
              <a:gd name="adj" fmla="val 5926"/>
            </a:avLst>
          </a:prstGeom>
          <a:solidFill>
            <a:srgbClr val="EEF3F7"/>
          </a:solidFill>
          <a:ln w="15875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21624" y="3995928"/>
            <a:ext cx="30449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자동검토·검증 도구 요구사항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421624" y="4389120"/>
            <a:ext cx="30449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‘도구가 무엇을 지원할지’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794760" y="2468880"/>
            <a:ext cx="4434840" cy="0"/>
          </a:xfrm>
          <a:prstGeom prst="line">
            <a:avLst/>
          </a:prstGeom>
          <a:noFill/>
          <a:ln w="28575">
            <a:solidFill>
              <a:srgbClr val="1750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794760" y="2697480"/>
            <a:ext cx="4434840" cy="1783080"/>
          </a:xfrm>
          <a:prstGeom prst="line">
            <a:avLst/>
          </a:prstGeom>
          <a:noFill/>
          <a:ln w="28575">
            <a:solidFill>
              <a:srgbClr val="17506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794760" y="2560320"/>
            <a:ext cx="4434840" cy="1783080"/>
          </a:xfrm>
          <a:prstGeom prst="line">
            <a:avLst/>
          </a:prstGeom>
          <a:noFill/>
          <a:ln w="38100">
            <a:solidFill>
              <a:srgbClr val="0FB5A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4572000"/>
            <a:ext cx="4434840" cy="0"/>
          </a:xfrm>
          <a:prstGeom prst="line">
            <a:avLst/>
          </a:prstGeom>
          <a:noFill/>
          <a:ln w="38100">
            <a:solidFill>
              <a:srgbClr val="0FB5A0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023360" y="3063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갭분석 경로(강조)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0644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갭분석은 ‘격차의 크기’로 요건의 눈높이를 정하고, ‘격차를 메울 어휘·검증’으로 도구의 기능을 규정한다.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 → 산출물 추적 (Traceability)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분석하면 어떤 결론으로 이어지는지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1672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782312"/>
                <a:gridCol w="2194560"/>
              </a:tblGrid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분석 입력(신호)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도출되는 산출물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주관 영역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A축 — 표준을 막론하고 반복되는 결함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문제점 진단 · 제정/개정 프로세스 개선(AS-IS→TO-BE)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프로세스(B)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A축 — ‘자동검사 필요’로 표시된 항목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2027 자동 검토·검증 도구의 기능 요구사항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기술개발(C)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B축 — 7개 구성요소 평균의 공통 공백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AI-Ready 수준 요건 (등급별 최소 기준)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총괄·종합(D)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 요건 + TO-BE 절차의 적용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AI-Ready 샘플 표준 5종 (재작성 실증)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기술(C)→총괄(D)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동향조사 — 국제 기준선(baseline)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수준 요건의 ‘눈높이’ 설정 + 타당성 근거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현황(A)→종합(D)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동향조사 — 어휘·검증 목록 / 라이선스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도구가 지원할 어휘·검증 + 법적 선결 조건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현황(A)→기술(C)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영역 표기는 담당 카테고리(A 현황 / B 프로세스 / C 기술개발 / D 총괄·종합)입니다.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예시 — TTAK.KO-10.1530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‘유수식 스마트 수산양식 센서 데이터 구조’를 카드로 분석한 결과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383280" cy="2103120"/>
          </a:xfrm>
          <a:prstGeom prst="roundRect">
            <a:avLst>
              <a:gd name="adj" fmla="val 4348"/>
            </a:avLst>
          </a:prstGeom>
          <a:solidFill>
            <a:srgbClr val="16263F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0116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FC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AI-Ready 성숙도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4D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등급 합계 2 / 14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06240" y="178308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867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185623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시맨틱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16712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6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64758" y="178308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29A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56198" y="185623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모델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56198" y="216712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923276" y="178308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29A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14716" y="185623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신태틱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14716" y="216712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29A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781794" y="178308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867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3234" y="185623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시맨틱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873234" y="216712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6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206240" y="265176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867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272491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출처/계보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0" y="303580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6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64758" y="265176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867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6198" y="272491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56198" y="303580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6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23276" y="2651760"/>
            <a:ext cx="1721358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 w="19050">
            <a:solidFill>
              <a:srgbClr val="D867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14716" y="2724912"/>
            <a:ext cx="15384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접근/제약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14716" y="3035808"/>
            <a:ext cx="15384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867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등급 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611880"/>
            <a:ext cx="7434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A축 결함 6건: xs:short 타입 오류 · 단위 모호성(미사용 단위) · 인용표준 분류 누락 · 코드표 헤더 오류 · 오타 · 약어 불일치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4617720"/>
            <a:ext cx="11091672" cy="1371600"/>
          </a:xfrm>
          <a:prstGeom prst="roundRect">
            <a:avLst>
              <a:gd name="adj" fmla="val 5333"/>
            </a:avLst>
          </a:prstGeom>
          <a:solidFill>
            <a:srgbClr val="D6F0EA"/>
          </a:solidFill>
          <a:ln w="12700">
            <a:solidFill>
              <a:srgbClr val="0FB5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5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시급한 개선 (수준 요건의 단서)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" y="5166360"/>
            <a:ext cx="104515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시맨틱 — 센서·관측·관측대상을 SOSA/SSN의 고유 주소(IRI)에 매핑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운영 시맨틱 — 단위를 QUDT/UCUM 표준 식별자로 결합 (미사용 단위 오류도 함께 교정)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 ─ AI-Ready 샘플 표준 5종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표준 5종을 AI-Ready Metadata 표준으로 재작성해 각각 제시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4630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‘이렇게 쓰면 된다’를 직접 보이는 실증 산출물 — 수준 요건과 TO-BE 절차의 적용 가능성을 증명한다.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2498598" cy="2651760"/>
          </a:xfrm>
          <a:prstGeom prst="roundRect">
            <a:avLst>
              <a:gd name="adj" fmla="val 3660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3891" y="2350008"/>
            <a:ext cx="768096" cy="768096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34" y="2534351"/>
            <a:ext cx="399410" cy="3994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" y="3246120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요소 → 어휘 IRI 매핑표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88620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데이터 요소를 SOSA·QUDT·PROV-O 등 표준 어휘의 고유 주소에 대응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2998" y="2057400"/>
            <a:ext cx="2498598" cy="2651760"/>
          </a:xfrm>
          <a:prstGeom prst="roundRect">
            <a:avLst>
              <a:gd name="adj" fmla="val 3660"/>
            </a:avLst>
          </a:prstGeom>
          <a:solidFill>
            <a:srgbClr val="D6F0EA"/>
          </a:solidFill>
          <a:ln w="12700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8249" y="2350008"/>
            <a:ext cx="768096" cy="768096"/>
          </a:xfrm>
          <a:prstGeom prst="ellipse">
            <a:avLst/>
          </a:prstGeom>
          <a:solidFill>
            <a:srgbClr val="0FB5A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2592" y="2534351"/>
            <a:ext cx="399410" cy="3994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77590" y="3246120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JSON-LD @context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3595878" y="388620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구조를 유지한 채 의미를 입히는 최소 전환 장치 제공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77356" y="2057400"/>
            <a:ext cx="2498598" cy="2651760"/>
          </a:xfrm>
          <a:prstGeom prst="roundRect">
            <a:avLst>
              <a:gd name="adj" fmla="val 3660"/>
            </a:avLst>
          </a:prstGeom>
          <a:solidFill>
            <a:srgbClr val="EEF3F7"/>
          </a:solidFill>
          <a:ln w="12700">
            <a:solidFill>
              <a:srgbClr val="E7ECF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42607" y="2350008"/>
            <a:ext cx="768096" cy="768096"/>
          </a:xfrm>
          <a:prstGeom prst="ellipse">
            <a:avLst/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6950" y="2534351"/>
            <a:ext cx="399410" cy="3994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1948" y="3246120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SHACL 제약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6460236" y="388620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 범위·필수/선택(M/O)을 자동 검증 가능한 규칙으로 표현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9141714" y="2057400"/>
            <a:ext cx="2498598" cy="2651760"/>
          </a:xfrm>
          <a:prstGeom prst="roundRect">
            <a:avLst>
              <a:gd name="adj" fmla="val 3660"/>
            </a:avLst>
          </a:prstGeom>
          <a:solidFill>
            <a:srgbClr val="D6F0EA"/>
          </a:solidFill>
          <a:ln w="12700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06965" y="2350008"/>
            <a:ext cx="768096" cy="768096"/>
          </a:xfrm>
          <a:prstGeom prst="ellipse">
            <a:avLst/>
          </a:prstGeom>
          <a:solidFill>
            <a:srgbClr val="0FB5A0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308" y="2534351"/>
            <a:ext cx="399410" cy="3994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06306" y="3246120"/>
            <a:ext cx="216941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재작성 전/후 성숙도 비교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9324594" y="3886200"/>
            <a:ext cx="21328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7개 구성요소 등급이 어떻게 상승하는지 정량 제시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548640" y="49834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16263F"/>
          </a:solidFill>
          <a:ln/>
        </p:spPr>
      </p:sp>
      <p:sp>
        <p:nvSpPr>
          <p:cNvPr id="27" name="Text 21"/>
          <p:cNvSpPr/>
          <p:nvPr/>
        </p:nvSpPr>
        <p:spPr>
          <a:xfrm>
            <a:off x="868680" y="5074920"/>
            <a:ext cx="10451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샘플 = 위 4종 묶음 (매핑표 + @context + SHACL + 성숙도 비교).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9D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선정: 분석 표준 중 도메인·성숙도를 고려해 5종 (예: 1530 포함 후보). 2027 자동화 도구의 ‘출력 예시’ 역할도 겸함.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 제정·개정 절차 — AS-IS → TO-BE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 자동 검토 단계 신설 + 심의에 AI-Ready 체크포인트 추가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(현행)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5B6B7B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74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011680" y="1874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84832" y="1929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표준안 제안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21608" y="2331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995928" y="1874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929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 초안 검토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05856" y="2331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80176" y="1874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1929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 심의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690104" y="2331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64424" y="1874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37576" y="1929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총회 채택·제정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74352" y="2331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948672" y="1874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21824" y="1929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개정·재개정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50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(개선)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1234440" cy="914400"/>
          </a:xfrm>
          <a:prstGeom prst="roundRect">
            <a:avLst>
              <a:gd name="adj" fmla="val 6000"/>
            </a:avLst>
          </a:prstGeom>
          <a:solidFill>
            <a:srgbClr val="17506E"/>
          </a:solidFill>
          <a:ln/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416052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011680" y="4160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D6F0EA"/>
          </a:solidFill>
          <a:ln w="19050">
            <a:solidFill>
              <a:srgbClr val="0FB5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84832" y="4215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+ 공동 어휘 바인딩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2011680" y="3867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21608" y="4617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95928" y="4160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D6F0EA"/>
          </a:solidFill>
          <a:ln w="19050">
            <a:solidFill>
              <a:srgbClr val="0FB5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69080" y="4215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정합성 검토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995928" y="3867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신설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705856" y="4617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980176" y="4160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D6F0EA"/>
          </a:solidFill>
          <a:ln w="19050">
            <a:solidFill>
              <a:srgbClr val="0FB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53328" y="4215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PG·TC 심의 + AI-Ready 체크포인트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80176" y="3867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추가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690104" y="4617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964424" y="4160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E7ECF1"/>
          </a:solidFill>
          <a:ln w="12700">
            <a:solidFill>
              <a:srgbClr val="CDD6D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37576" y="4215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기계검증 통과 시 제정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674352" y="4617720"/>
            <a:ext cx="25603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48672" y="4160520"/>
            <a:ext cx="1691640" cy="914400"/>
          </a:xfrm>
          <a:prstGeom prst="roundRect">
            <a:avLst>
              <a:gd name="adj" fmla="val 6000"/>
            </a:avLst>
          </a:prstGeom>
          <a:solidFill>
            <a:srgbClr val="D6F0EA"/>
          </a:solidFill>
          <a:ln w="19050">
            <a:solidFill>
              <a:srgbClr val="0FB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21824" y="4215384"/>
            <a:ext cx="15453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 + 적합성 재평가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948672" y="386791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사람 심의 ‘전에’ 기계가 타입·인용·SHACL을 자동 점검하고, 심의에는 7개 구성요소 최소 등급 요건을 추가한다.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절차와 사유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절차를 왜 바꾸는가 — 문서화하여 제출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108960"/>
                <a:gridCol w="3108960"/>
                <a:gridCol w="2770632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항목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AS-IS 문제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TO-BE 개선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개선 사유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63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자동 정합성 검토 신설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타입·인용표준 오류가 사람 검토를 통과해 제정됨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심의 전 기계 자동 검토(타입·인용·SHACL)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 눈으로 못 잡는 결함을 표준화 단계에서 차단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AI-Ready 체크포인트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심의 기준에 의미·단위·출처·품질·제약 평가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7개 구성요소 최소 등급을 심의 통과 요건화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활용 가능성을 제정 시점에 보장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시 어휘 바인딩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표준마다 로컬 코드 난립, 상호운용 저해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제안 SW가 공동 어휘 선택·바인딩 자동 생성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 간 의미 일관성·재사용성 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기계검증 산출물 동반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검토가 산문 문서 중심, 검증 불가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JSON-LD/SHACL 등 검증 가능 산출물 의무화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 자동화·객관적 심의 가능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개정 트리거 확장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주기·민원 중심, 적합성 재평가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AI-Ready 적합성 재평가를 정기 트리거에 포함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표준의 AI-Ready 전환 누락 방지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진행 순서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입력을 병행으로 깔고, 종합한 뒤, 설계·실증·계획으로 닫는다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91672" cy="0"/>
          </a:xfrm>
          <a:prstGeom prst="line">
            <a:avLst/>
          </a:prstGeom>
          <a:noFill/>
          <a:ln w="19050">
            <a:solidFill>
              <a:srgbClr val="E7EC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011680"/>
            <a:ext cx="2464308" cy="2926080"/>
          </a:xfrm>
          <a:prstGeom prst="roundRect">
            <a:avLst>
              <a:gd name="adj" fmla="val 3711"/>
            </a:avLst>
          </a:prstGeom>
          <a:solidFill>
            <a:srgbClr val="DCE9F2"/>
          </a:solidFill>
          <a:ln w="12700">
            <a:solidFill>
              <a:srgbClr val="1750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96746" y="2286000"/>
            <a:ext cx="768096" cy="768096"/>
          </a:xfrm>
          <a:prstGeom prst="ellipse">
            <a:avLst/>
          </a:prstGeom>
          <a:solidFill>
            <a:srgbClr val="17506E"/>
          </a:solidFill>
          <a:ln/>
        </p:spPr>
      </p:sp>
      <p:sp>
        <p:nvSpPr>
          <p:cNvPr id="7" name="Text 5"/>
          <p:cNvSpPr/>
          <p:nvPr/>
        </p:nvSpPr>
        <p:spPr>
          <a:xfrm>
            <a:off x="1396746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표본 확정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20985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연구진 선정: PG606 + 타 PG 표준(○○종) · 카드 양식 공유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67812" y="3474720"/>
            <a:ext cx="30175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24428" y="2011680"/>
            <a:ext cx="2464308" cy="2926080"/>
          </a:xfrm>
          <a:prstGeom prst="roundRect">
            <a:avLst>
              <a:gd name="adj" fmla="val 3711"/>
            </a:avLst>
          </a:prstGeom>
          <a:solidFill>
            <a:srgbClr val="D6F0EA"/>
          </a:solidFill>
          <a:ln w="12700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72534" y="2286000"/>
            <a:ext cx="768096" cy="768096"/>
          </a:xfrm>
          <a:prstGeom prst="ellipse">
            <a:avLst/>
          </a:prstGeom>
          <a:solidFill>
            <a:srgbClr val="0FB5A0"/>
          </a:solidFill>
          <a:ln/>
        </p:spPr>
      </p:sp>
      <p:sp>
        <p:nvSpPr>
          <p:cNvPr id="13" name="Text 11"/>
          <p:cNvSpPr/>
          <p:nvPr/>
        </p:nvSpPr>
        <p:spPr>
          <a:xfrm>
            <a:off x="4272534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561588" y="3246120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병행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07308" y="3840480"/>
            <a:ext cx="20985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카드 작성  ② 동향조사·갭분석 (병행)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3474720"/>
            <a:ext cx="30175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300216" y="2011680"/>
            <a:ext cx="2464308" cy="2926080"/>
          </a:xfrm>
          <a:prstGeom prst="roundRect">
            <a:avLst>
              <a:gd name="adj" fmla="val 3711"/>
            </a:avLst>
          </a:prstGeom>
          <a:solidFill>
            <a:srgbClr val="DCE9F2"/>
          </a:solidFill>
          <a:ln w="12700">
            <a:solidFill>
              <a:srgbClr val="17506E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48322" y="2286000"/>
            <a:ext cx="768096" cy="768096"/>
          </a:xfrm>
          <a:prstGeom prst="ellipse">
            <a:avLst/>
          </a:prstGeom>
          <a:solidFill>
            <a:srgbClr val="17506E"/>
          </a:solidFill>
          <a:ln/>
        </p:spPr>
      </p:sp>
      <p:sp>
        <p:nvSpPr>
          <p:cNvPr id="19" name="Text 17"/>
          <p:cNvSpPr/>
          <p:nvPr/>
        </p:nvSpPr>
        <p:spPr>
          <a:xfrm>
            <a:off x="7148322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37376" y="3246120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83096" y="3840480"/>
            <a:ext cx="20985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매트릭스 → 공통 결함·구성요소 공백·국제 격차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819388" y="3474720"/>
            <a:ext cx="301752" cy="0"/>
          </a:xfrm>
          <a:prstGeom prst="line">
            <a:avLst/>
          </a:prstGeom>
          <a:noFill/>
          <a:ln w="2540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76004" y="2011680"/>
            <a:ext cx="2464308" cy="2926080"/>
          </a:xfrm>
          <a:prstGeom prst="roundRect">
            <a:avLst>
              <a:gd name="adj" fmla="val 3711"/>
            </a:avLst>
          </a:prstGeom>
          <a:solidFill>
            <a:srgbClr val="D6F0EA"/>
          </a:solidFill>
          <a:ln w="12700">
            <a:solidFill>
              <a:srgbClr val="0FB5A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0024110" y="2286000"/>
            <a:ext cx="768096" cy="768096"/>
          </a:xfrm>
          <a:prstGeom prst="ellipse">
            <a:avLst/>
          </a:prstGeom>
          <a:solidFill>
            <a:srgbClr val="0FB5A0"/>
          </a:solidFill>
          <a:ln/>
        </p:spPr>
      </p:sp>
      <p:sp>
        <p:nvSpPr>
          <p:cNvPr id="25" name="Text 23"/>
          <p:cNvSpPr/>
          <p:nvPr/>
        </p:nvSpPr>
        <p:spPr>
          <a:xfrm>
            <a:off x="10024110" y="228600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313164" y="3246120"/>
            <a:ext cx="218998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설계·실증·계획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58884" y="3840480"/>
            <a:ext cx="20985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B6B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 요건 · 절차 TO-BE · 샘플 표준 5종 · 2027 로드맵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53035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 = 진단·개선·제안·실증 (자동화 도구 개발은 2027). 1·2단계의 양식·항목을 초반에 통일해야 종합 비용이 줄어든다.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48472" y="-1645920"/>
            <a:ext cx="5486400" cy="5486400"/>
          </a:xfrm>
          <a:prstGeom prst="ellipse">
            <a:avLst/>
          </a:prstGeom>
          <a:solidFill>
            <a:srgbClr val="1E335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100" kern="0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8348472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카드 = 결론을 떠받치는 ‘증거 기반’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입력(표준 분석·갭분석)이 종합되어 산출물로 갈라진다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갭분석은 ‘수준 요건’과 ‘도구 요구사항’ 양쪽에 동시에 반영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제정·개정 절차를 AS-IS→TO-BE로 개선 (사유 문서화)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표준 5종을 AI-Ready로 재작성해 실증</a:t>
            </a:r>
            <a:endParaRPr lang="en-US" sz="1800" dirty="0"/>
          </a:p>
          <a:p>
            <a:pPr marL="342900" indent="-342900">
              <a:lnSpc>
                <a:spcPct val="105000"/>
              </a:lnSpc>
              <a:spcAft>
                <a:spcPts val="11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올해의 결과물이 곧 2027 개발의 명세가 된다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B5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— 선정 표준(PG606 + 타 PG, ○○종) 확정 및 담당 배정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올해 과제 분석 방법론</dc:title>
  <dc:subject>PptxGenJS Presentation</dc:subject>
  <dc:creator>TTA AI-Ready 표준화 전략 과제</dc:creator>
  <cp:lastModifiedBy>TTA AI-Ready 표준화 전략 과제</cp:lastModifiedBy>
  <cp:revision>1</cp:revision>
  <dcterms:created xsi:type="dcterms:W3CDTF">2026-06-22T05:00:43Z</dcterms:created>
  <dcterms:modified xsi:type="dcterms:W3CDTF">2026-06-22T05:00:43Z</dcterms:modified>
</cp:coreProperties>
</file>